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this is a first attempt with open questions, not finished work. The ask is 30 minutes of co-authorship, not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Levels 1-2: uncertainty is resolved by better information and analysis. Levels 3-4: it is not. Everything in this deck is machinery for living above the line. Reference: Marchau, Walker, Bloemen, Popper - Decision Making Under Deep Uncertainty.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six steps quickly - each gets its own slide. Emphasize: run manually on one real memo, which is why every intermediate artifact exists and is auditable.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XLRM is the canonical DMDU schema. Our parameter tags ARE the X/L split; the cash model IS R; the verdict metrics ARE M. Pedram will recognize this on sight - it signals we are operationalizing the literature, not inventing vocabulary.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stochastic-inside / DMDU-across seam made literal. Small on purpose: a 2,000-line model would be a second black box. Full parameter table in samsung-model-schema-v0.1.md.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F4 is the showpiece: two rows of the memo's own unit-economics table contradict each other, invisible in prose, automatic in a schema. Extraction is QA.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exact untuned reproduction of the $20M-per-flight elasticity is the trust moment: the model's derivative structure matches the memo. Then the breakeven contradiction lands harder.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deliberately Pedram bait - axis selection is open question 1. The rejected rows invite attack. Note the validation: the memo's two CRITICAL-CRITICAL risks turned out to be functions of Axis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Quality bar for a world: causally tellable, distinguishable TODAY by signposts, and the four verdicts must diverge. Note the X-vector line under each story - the story and the vector are the same object in two languages.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sentence: only the world changed. Same model, same levers - so differences between worlds are attributable to the X-vector alone. The rule was committed before results existed.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on the two failure shapes - it justifies the whole signpost design. A single risk dashboard could not catch both; world-specific triggers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this slowly - it is the conceptual hinge. EV needs probabilities; deep uncertainty forbids them; regret is the comparison that survives. Minimax regret is Savage's criterion and also the bandit quantity - the bridge between Pedram's two worlds.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S1 premium over GaaS in its own dream world: +0.67B. Its exposure elsewhere: -1.9 to -5.7B. Say that sentence and let it sit.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gates measure the two axes: launch gate = supply axis, LOI gate = demand axis. Two gates, four outcomes, four prepared responses. Phase 1 is not preparation for analysis; it IS analysis by other means.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answers what happens after Samsung acts: irreversibility shrinks the strategy set, results shrink the uncertainty set, and the whole analysis re-runs on what remains. The business model implication: recurring engagement, not one-shot memos.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trust pitch: we are not claiming the machine removed judgment; we are showing exactly where judgment sits so it can be examined. The last line hands Pedram the stochastic interior.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trim candidate if time runs short - but also the slide Harry uses to re-teach himself the whole arc. Three columns: what the method proved, what the case showed, what it means for the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the session here if time is tight. Question 5 is the explicit invitation: the deterministic v1 left the stochastic layer unbuilt on purpose - it is his to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co-authorship: the worked example exists so the method can be attacked before it gets automated. The machine is the prize for surviving this conversation.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BETTER INFORMATION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DEEP UNCERTAINTY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6517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Operationalizing Level 3–4 analysis  ·  a first working attempt, with open questions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0449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end-to-end on the Samsung LEO memo  ·  every number traceable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Innovera  ·  Harry × Pedram  ·  June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852160" y="397764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Shape 5"/>
          <p:cNvSpPr/>
          <p:nvPr/>
        </p:nvSpPr>
        <p:spPr>
          <a:xfrm>
            <a:off x="6446520" y="397764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Shape 6"/>
          <p:cNvSpPr/>
          <p:nvPr/>
        </p:nvSpPr>
        <p:spPr>
          <a:xfrm>
            <a:off x="7040880" y="3977640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Shape 7"/>
          <p:cNvSpPr/>
          <p:nvPr/>
        </p:nvSpPr>
        <p:spPr>
          <a:xfrm>
            <a:off x="7635240" y="3977640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0" y="3977640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wall — four levels of uncertainty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Walker et al.'s ladder: the analytical task changes qualitatively as you climb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3246120"/>
            <a:ext cx="1920240" cy="1417320"/>
          </a:xfrm>
          <a:prstGeom prst="roundRect">
            <a:avLst>
              <a:gd name="adj" fmla="val 3871"/>
            </a:avLst>
          </a:prstGeom>
          <a:solidFill>
            <a:srgbClr val="E9EEF7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30936" y="3337560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0936" y="3575304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enough future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30936" y="4014216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it. One model, one answer, tight error bars.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87752" y="2679192"/>
            <a:ext cx="1920240" cy="1417320"/>
          </a:xfrm>
          <a:prstGeom prst="roundRect">
            <a:avLst>
              <a:gd name="adj" fmla="val 3871"/>
            </a:avLst>
          </a:prstGeom>
          <a:solidFill>
            <a:srgbClr val="E9EEF7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15768" y="2770632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15768" y="3008376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futures, with probabilities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15768" y="3447288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odds. Ranges, sensitivities, expected value. Innovera's engine today.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72584" y="2112264"/>
            <a:ext cx="1920240" cy="1417320"/>
          </a:xfrm>
          <a:prstGeom prst="roundRect">
            <a:avLst>
              <a:gd name="adj" fmla="val 3871"/>
            </a:avLst>
          </a:prstGeom>
          <a:solidFill>
            <a:srgbClr val="1A2238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2203704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2441448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plausible futures — no credible probabilities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00600" y="2880360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scenarios. Test robustness across them. Probabilities would be invented.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57416" y="1545336"/>
            <a:ext cx="1920240" cy="1417320"/>
          </a:xfrm>
          <a:prstGeom prst="roundRect">
            <a:avLst>
              <a:gd name="adj" fmla="val 3871"/>
            </a:avLst>
          </a:prstGeom>
          <a:solidFill>
            <a:srgbClr val="1A2238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85432" y="1636776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85432" y="1874520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unknowns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85432" y="2313432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futures can't be enumerated. Design for adaptation: signposts, triggers, staged commitment.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" y="4736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Innovera today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434840" y="12984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defensible territory ↗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91840" y="4160520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Samsung verdict turns on uncertainties no Phase-1 study can resolve — sovereignty politics, launch-market structure. Better information stops helping at the level-2/3 boundary. That is the wall, and the opportunity.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method — six steps, run by hand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produces a visible artifact; every claim traces back through the chain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060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" y="1517904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499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61288" y="1536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7512" y="193852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 → cited parameter schema; every value tagged X, L, D, or GAP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060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56432" y="1517904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456432" y="1499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50208" y="1536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56432" y="193852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cash model must reproduce the memo's own anchors before it earns trust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0760" y="1371600"/>
            <a:ext cx="26060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45352" y="1517904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6245352" y="1499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39128" y="1536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45352" y="193852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deep-uncertain axes → four exogenous parameter vectors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063240"/>
            <a:ext cx="26060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7512" y="3209544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61288" y="32278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Verdicts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7512" y="363016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world runs through the model; verdict rule fixed ex ante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91840" y="3063240"/>
            <a:ext cx="26060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56432" y="3209544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/>
          <p:nvPr/>
        </p:nvSpPr>
        <p:spPr>
          <a:xfrm>
            <a:off x="3456432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0208" y="32278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Matrix + Regret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456432" y="363016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strategies × 4 worlds; minimax regret read off the grid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80760" y="3063240"/>
            <a:ext cx="26060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45352" y="3209544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1" name="Text 29"/>
          <p:cNvSpPr/>
          <p:nvPr/>
        </p:nvSpPr>
        <p:spPr>
          <a:xfrm>
            <a:off x="6245352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39128" y="32278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Pathway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245352" y="363016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signposts, triggers, staged policy — and the re-instantiation loop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2920" y="477316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 throughout: build the thinking by hand first; automate only after the method is validated.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grammar: XLRM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Lempert / RAND's structuring framework for decisions under deep uncertainty — operationalized literally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286000" cy="1463040"/>
          </a:xfrm>
          <a:prstGeom prst="roundRect">
            <a:avLst>
              <a:gd name="adj" fmla="val 3750"/>
            </a:avLst>
          </a:prstGeom>
          <a:solidFill>
            <a:srgbClr val="E9EEF7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08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938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Exogenous uncertainties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world decides: launch $/kg, sovereignty premium, co-invest share, price floor. Worlds may touch only these.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3154680"/>
            <a:ext cx="2286000" cy="1463040"/>
          </a:xfrm>
          <a:prstGeom prst="roundRect">
            <a:avLst>
              <a:gd name="adj" fmla="val 3750"/>
            </a:avLst>
          </a:prstGeom>
          <a:solidFill>
            <a:srgbClr val="E9EEF7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3246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85800" y="36758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39319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Samsung decides: constellation size, pacing, segment focus, build-vs-partner. Strategies may touch only these.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520440" y="2240280"/>
            <a:ext cx="2286000" cy="1600200"/>
          </a:xfrm>
          <a:prstGeom prst="roundRect">
            <a:avLst>
              <a:gd name="adj" fmla="val 3429"/>
            </a:avLst>
          </a:prstGeom>
          <a:solidFill>
            <a:srgbClr val="1A2238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03320" y="234086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703320" y="2770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03320" y="3026664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economic model — ~200 auditable lines that compute what happens when a lever-vector meets an X-vector.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37960" y="2240280"/>
            <a:ext cx="2103120" cy="1600200"/>
          </a:xfrm>
          <a:prstGeom prst="roundRect">
            <a:avLst>
              <a:gd name="adj" fmla="val 3429"/>
            </a:avLst>
          </a:prstGeom>
          <a:solidFill>
            <a:srgbClr val="E9EEF7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0840" y="234086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720840" y="27706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20840" y="3026664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 year, cash trough, IRR, Y10 revenue — and regret, computed across worlds.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834640" y="2514600"/>
            <a:ext cx="640080" cy="0"/>
          </a:xfrm>
          <a:prstGeom prst="line">
            <a:avLst/>
          </a:prstGeom>
          <a:noFill/>
          <a:ln w="22860">
            <a:solidFill>
              <a:srgbClr val="5A647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834640" y="3611880"/>
            <a:ext cx="640080" cy="0"/>
          </a:xfrm>
          <a:prstGeom prst="line">
            <a:avLst/>
          </a:prstGeom>
          <a:noFill/>
          <a:ln w="22860">
            <a:solidFill>
              <a:srgbClr val="5A647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852160" y="3035808"/>
            <a:ext cx="640080" cy="0"/>
          </a:xfrm>
          <a:prstGeom prst="line">
            <a:avLst/>
          </a:prstGeom>
          <a:noFill/>
          <a:ln w="22860">
            <a:solidFill>
              <a:srgbClr val="5A6478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02920" y="473659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 is the safety rail: if a 'world' wants to change a lever, or a 'strategy' wants to change the weather, the schema refuses. Confabulation becomes a type error.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R — the economic model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annual cash simulator · ~200 lines · 24 cited parameters · auditable in one sitting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060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9224" y="14813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&amp; cost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9224" y="1773936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sats/year schedule · unit cost &lt;$500K · mass ~800kg × $/kg · 5-yr lifespan → replenishment · gateways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118104" y="2029968"/>
            <a:ext cx="164592" cy="0"/>
          </a:xfrm>
          <a:prstGeom prst="line">
            <a:avLst/>
          </a:prstGeom>
          <a:noFill/>
          <a:ln w="22860">
            <a:solidFill>
              <a:srgbClr val="5A647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291840" y="1371600"/>
            <a:ext cx="26060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38144" y="14813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438144" y="1773936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backhaul $10–50K/mo · maritime ≤$300K/yr · enterprise · D2D $1–3/mo · sovereignty premium · price floor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07024" y="2029968"/>
            <a:ext cx="164592" cy="0"/>
          </a:xfrm>
          <a:prstGeom prst="line">
            <a:avLst/>
          </a:prstGeom>
          <a:noFill/>
          <a:ln w="22860">
            <a:solidFill>
              <a:srgbClr val="5A647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080760" y="1371600"/>
            <a:ext cx="26060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27064" y="14813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roll-up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227064" y="1773936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→ operating cash → FCF → cumulative curve → breakeven, trough, IRR, margins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4206240" cy="1691640"/>
          </a:xfrm>
          <a:prstGeom prst="roundRect">
            <a:avLst>
              <a:gd name="adj" fmla="val 3243"/>
            </a:avLst>
          </a:prstGeom>
          <a:solidFill>
            <a:srgbClr val="1A2238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29992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ENGINE, LITERALLY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329184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cost_per_sat = build + mass × $/kg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capex  = sats × cost + gateways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gross  = revenue × (1 − cogs)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fcf    = gross − opex − capex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verdict = rule(breakeven, IRR)  # ex ante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983480" y="2880360"/>
            <a:ext cx="36576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193792" y="29992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TRUSTABLE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93792" y="3273552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Calibrate, don't invent: it must reproduce the memo's anchors before it may compute deviations</a:t>
            </a:r>
            <a:endParaRPr lang="en-US" sz="9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Deltas, not levels: worlds report movement from a calibrated baseline</a:t>
            </a:r>
            <a:endParaRPr lang="en-US" sz="9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input cited (memo), derived (shown), or declared (GAP log)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502920" y="473659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proposes parameter shifts and tells the causal story; this engine — not the LLM — delivers every number.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1560" y="29260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Extraction — and it is an audit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51560" y="822960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memo becomes data: 24 parameters, 12 risks, 9 calibration targets, every value cited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393192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5179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847088"/>
            <a:ext cx="3429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schema: every value tagged X (world-owned), L (Samsung-owned), D (derived), GAP (declared assumption)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with parameter mappings — most risks ARE parameter shifts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 chain closes: 70 flights → ~50 sats/flight → ~800 kg/sat → $7.4B space capex inside the $10–12B envelope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93192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15179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FOUND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847088"/>
            <a:ext cx="34290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— the memo doesn't cohere: assembly capacity 500 sats/yr vs its own stated 700–875/yr replenishment need. Steady state undersupplied 30–40%.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F7 — prices everything, counts nothing: per-unit prices cited; volumes appear nowhere. Largest assumption load, now declared.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by forcing prose into a schema — no opinion involved.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46634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consequence: memos should ship volume ramps and risk→parameter mappings — extraction quality is set at writing time.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1560" y="29260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 — a second audit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51560" y="822960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memo's stated outcomes are the test suite; the model must hit them before it earns trust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498348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691640"/>
                <a:gridCol w="1645920"/>
                <a:gridCol w="3200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Trough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−$8.5B @ Y5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−$8.8B @ Y5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 / margin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11–13% / high-20s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11.2% / 30.9%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Y10 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&gt;$10B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$10.8B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 elasticity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+$20M/flt ⇒ $1.4B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$1.40B — exact, untuned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Breakeven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7–8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715000" y="1417320"/>
            <a:ext cx="2926080" cy="3246120"/>
          </a:xfrm>
          <a:prstGeom prst="roundRect">
            <a:avLst>
              <a:gd name="adj" fmla="val 1875"/>
            </a:avLst>
          </a:prstGeom>
          <a:solidFill>
            <a:srgbClr val="1A2238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43600" y="15544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FINDING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1865376"/>
            <a:ext cx="248716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replenishment wall: Y4–5 cohorts die on the 5-yr lifespan in Y9–10 (~$6.2B) — exactly when breakeven was promised.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Y7–8 breakeven would require: 7-yr lifespan, 50% margins by Y6, $10B revenue by Y8 → implies IRR 26%, contradicting the memo's own 11–13%.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memo's claims came from two inconsistent implicit models.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2920" y="41148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of six anchors cohere around a Year 9–12 breakeven; the headline claim is the orphan. Found by arithmetic, not opinion — and an argument that memos should emit claims from one coherent model.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1560" y="29260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axes — the expert step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51560" y="822960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selection is the framing bottleneck: LLMs regress to business-as-usual futures; this is where judgment enters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1920240" cy="1005840"/>
          </a:xfrm>
          <a:prstGeom prst="roundRect">
            <a:avLst>
              <a:gd name="adj" fmla="val 5455"/>
            </a:avLst>
          </a:prstGeom>
          <a:solidFill>
            <a:srgbClr val="E9EEF7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30936" y="148132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Deep-uncertain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0936" y="1773936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Phase-1 study resolves it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87752" y="1371600"/>
            <a:ext cx="1920240" cy="1005840"/>
          </a:xfrm>
          <a:prstGeom prst="roundRect">
            <a:avLst>
              <a:gd name="adj" fmla="val 5455"/>
            </a:avLst>
          </a:prstGeom>
          <a:solidFill>
            <a:srgbClr val="E9EEF7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15768" y="148132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Verdict-moving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15768" y="1773936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Flips the venture, not a line item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72584" y="1371600"/>
            <a:ext cx="1920240" cy="1005840"/>
          </a:xfrm>
          <a:prstGeom prst="roundRect">
            <a:avLst>
              <a:gd name="adj" fmla="val 5455"/>
            </a:avLst>
          </a:prstGeom>
          <a:solidFill>
            <a:srgbClr val="E9EEF7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148132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1773936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don't imply each other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757416" y="1371600"/>
            <a:ext cx="1920240" cy="1005840"/>
          </a:xfrm>
          <a:prstGeom prst="roundRect">
            <a:avLst>
              <a:gd name="adj" fmla="val 5455"/>
            </a:avLst>
          </a:prstGeom>
          <a:solidFill>
            <a:srgbClr val="E9EEF7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85432" y="148132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Exogenous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85432" y="1773936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Happens TO Samsung — X, never L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606040"/>
          <a:ext cx="81381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005840"/>
                <a:gridCol w="40233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 uncertainty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Sovereignty demand — is the premium real?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geopolitics; the thesis parameter; both memo CRITICALs hang off 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 &amp; capacity economics — scarce or abundant?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Industrial, independent of politics; the most load-bearing 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Incumbent price dumping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Downstream: emerges from abundance + normalization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MNO co-investment behavior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Conditional on Axis 1 → world-specific risk re-rating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D2D tech race / chipset parity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Redistributes value within the position; doesn't flip the venture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502920" y="473659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the rejected candidates is the point: the choice is attackable, which is what makes it defensible. (Open question #1.)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1560" y="29260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worlds, four X-vectors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51560" y="822960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quadrant is a causal story plus a parameter vector the model can run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43400" y="1463040"/>
            <a:ext cx="0" cy="3200400"/>
          </a:xfrm>
          <a:prstGeom prst="line">
            <a:avLst/>
          </a:prstGeom>
          <a:noFill/>
          <a:ln w="19050">
            <a:solidFill>
              <a:srgbClr val="5A64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063240"/>
            <a:ext cx="6858000" cy="0"/>
          </a:xfrm>
          <a:prstGeom prst="line">
            <a:avLst/>
          </a:prstGeom>
          <a:noFill/>
          <a:ln w="19050">
            <a:solidFill>
              <a:srgbClr val="5A64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2070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DEMAND: Fragmented ↑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20440" y="470001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Normalized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" y="28529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SUPPLY: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54112" y="29443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Abundant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51560" y="1517904"/>
            <a:ext cx="3154680" cy="1417320"/>
          </a:xfrm>
          <a:prstGeom prst="roundRect">
            <a:avLst>
              <a:gd name="adj" fmla="val 3871"/>
            </a:avLst>
          </a:prstGeom>
          <a:solidFill>
            <a:srgbClr val="F2E8D5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79576" y="160934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W1  GATED ORBITS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79576" y="188366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real; launch tax brutal; deployment queues. Race: premium vs tax.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79576" y="2478024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$2,400/kg · premium intact · co-invest 60% · +1yr delays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26280" y="1517904"/>
            <a:ext cx="3154680" cy="1417320"/>
          </a:xfrm>
          <a:prstGeom prst="roundRect">
            <a:avLst>
              <a:gd name="adj" fmla="val 3871"/>
            </a:avLst>
          </a:prstGeom>
          <a:solidFill>
            <a:srgbClr val="DCEFE3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54296" y="160934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W2  SOVEREIGN PLENTY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54296" y="188366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dream quadrant — but cheap launch arms rival sovereign entrants too.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54296" y="2478024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$1,200/kg · premium intact · co-invest 60% · rivals funded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051560" y="3182112"/>
            <a:ext cx="3154680" cy="1417320"/>
          </a:xfrm>
          <a:prstGeom prst="roundRect">
            <a:avLst>
              <a:gd name="adj" fmla="val 3871"/>
            </a:avLst>
          </a:prstGeom>
          <a:solidFill>
            <a:srgbClr val="F4DBDE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179576" y="327355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W3  INCUMBENT CITADEL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79576" y="354787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Starlink concedes compliance, gets licensed; premium dies; tax stays.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79576" y="414223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$2,400/kg · premium → 0 · co-invest 25% · revenue ×0.60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26280" y="3182112"/>
            <a:ext cx="3154680" cy="1417320"/>
          </a:xfrm>
          <a:prstGeom prst="roundRect">
            <a:avLst>
              <a:gd name="adj" fmla="val 3871"/>
            </a:avLst>
          </a:prstGeom>
          <a:solidFill>
            <a:srgbClr val="F4DBDE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54296" y="327355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W4  CONTESTED COMMODITY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654296" y="354787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glut, price war to the $0.30/GB floor; connectivity commoditizes.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54296" y="414223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$1,200/kg · premium → 0 · co-invest 25% · revenue ×0.55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1560" y="29260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Grading a world — the mechanics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51560" y="822960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sets the dials, the model computes, a pre-committed rule grades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2103120" cy="1234440"/>
          </a:xfrm>
          <a:prstGeom prst="roundRect">
            <a:avLst>
              <a:gd name="adj" fmla="val 4444"/>
            </a:avLst>
          </a:prstGeom>
          <a:solidFill>
            <a:srgbClr val="E9EEF7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5179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X-vector 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792224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$/kg · premium · co-invest · delays · price floor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15184" y="2029968"/>
            <a:ext cx="457200" cy="0"/>
          </a:xfrm>
          <a:prstGeom prst="line">
            <a:avLst/>
          </a:prstGeom>
          <a:noFill/>
          <a:ln w="22860">
            <a:solidFill>
              <a:srgbClr val="5A647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108960" y="1417320"/>
            <a:ext cx="2103120" cy="1234440"/>
          </a:xfrm>
          <a:prstGeom prst="roundRect">
            <a:avLst>
              <a:gd name="adj" fmla="val 4444"/>
            </a:avLst>
          </a:prstGeom>
          <a:solidFill>
            <a:srgbClr val="1A2238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64408" y="15179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computes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64408" y="1792224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200 lines, same levers — only the world changed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221224" y="2029968"/>
            <a:ext cx="457200" cy="0"/>
          </a:xfrm>
          <a:prstGeom prst="line">
            <a:avLst/>
          </a:prstGeom>
          <a:noFill/>
          <a:ln w="22860">
            <a:solidFill>
              <a:srgbClr val="5A647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715000" y="1417320"/>
            <a:ext cx="2926080" cy="1234440"/>
          </a:xfrm>
          <a:prstGeom prst="roundRect">
            <a:avLst>
              <a:gd name="adj" fmla="val 4444"/>
            </a:avLst>
          </a:prstGeom>
          <a:solidFill>
            <a:srgbClr val="E9EEF7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870448" y="15179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out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70448" y="1792224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 year · cash trough · IRR · Y10 revenue → verdict</a:t>
            </a:r>
            <a:endParaRPr lang="en-US" sz="9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926080"/>
          <a:ext cx="81381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6858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— fixed before any world ran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 ≥ 11% (corporate hurdle) AND breakeven ≤ Year 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6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 5–11%, OR breakeven Y13–15, OR trough below −$12B — survives only restructured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 &lt; 5%, OR no breakeven within the 15-yr horizon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02920" y="44348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 ante matters: verdicts can never be fitted to the story we wanted. When a result lands on a boundary, we report the boundary — we don't redraw the line. (The calibrated baseline itself sits at THRIVE's edge: the base plan is marginal, not comfortable.)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1560" y="29260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plan, graded across four worlds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51560" y="822960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Samsung's plan-as-written, run unchanged through each X-vector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81381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97280"/>
                <a:gridCol w="1097280"/>
                <a:gridCol w="1005840"/>
                <a:gridCol w="25603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Breakeven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Trough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(calibrated)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−$8.8B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6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THRIVE — boundary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 Gated Orbits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−$9.9B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6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 — boundary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W2 Sovereign Plenty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−$6.3B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W3 Incumbent Citadel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−$12.4B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−15.8%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 — capital crater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W4 Contested Commodity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−$7.4B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 — margin bleed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3794760"/>
            <a:ext cx="39319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3913632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Thrives in 1 of 4 worlds. </a:t>
            </a:r>
            <a:pPr indent="0" marL="0">
              <a:buNone/>
            </a:pPr>
            <a:r>
              <a:rPr lang="en-US" sz="105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written, this is a wager on W2 — not a strategy across futures. W1 sits at 4.8% vs the 5% cutoff: reported as boundary, not nudged.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09160" y="3794760"/>
            <a:ext cx="39319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92040" y="3913632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verdict, opposite deaths. </a:t>
            </a:r>
            <a:pPr indent="0" marL="0">
              <a:buNone/>
            </a:pPr>
            <a:r>
              <a:rPr lang="en-US" sz="105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 craters fast (detectable early: license events); W4 bleeds slow (detectable: price erosion). The triggers must differ — instrumentation is world-specific.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Regret — the number that replaces probability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compare strategies when you're not allowed to say how likely each world is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4160520" cy="1371600"/>
          </a:xfrm>
          <a:prstGeom prst="roundRect">
            <a:avLst>
              <a:gd name="adj" fmla="val 4000"/>
            </a:avLst>
          </a:prstGeom>
          <a:solidFill>
            <a:srgbClr val="1A2238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356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70078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Regret(strategy, world) =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NPV(best strategy in that world) − NPV(your strategy in that world)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bill for being wrong about the world.”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92040" y="1325880"/>
            <a:ext cx="3749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02352" y="143560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WORKED, WITH OUR NUMBERS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102352" y="1700784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W3, the best available strategy (GaaS) earns +$1.44B.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Samsung's plan earns −$5.71B.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Regret = 1.44 − (−5.71) = $7.15B.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92608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E9EEF7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" y="30449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probabilities needed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" y="35204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value requires P(world) — exactly what level 3–4 forbids. Regret only compares strategies within each world, then looks across.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3291840" y="292608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E9EEF7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38144" y="30449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Measures fragility, not failure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438144" y="35204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strategy can be profitable yet high-regret: it left a fortune on the table in the worlds it ignored. The gap IS the fragility signal.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6080760" y="292608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E9EEF7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27064" y="30449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Minimax regret (Savage, 1951)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27064" y="35204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strategy whose worst-case bill is smallest. A decision criterion that needs no forecast — native to DMDU, and the same quantity RL calls regret in bandits.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502920" y="4773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slide: the full grid this definition gets applied to.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1560" y="29260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matrix — regret, computed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51560" y="822960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structurally distinct strategies × four worlds · NPV @ 11% hurdle ($B)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57607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676656"/>
                <a:gridCol w="676656"/>
                <a:gridCol w="676656"/>
                <a:gridCol w="676656"/>
                <a:gridCol w="950976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regret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Plan-as-written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−5.71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 Regional-1000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D2D-only (memo Alt #2)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 GaaS (memo Alt #1)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 Components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92240" y="1371600"/>
            <a:ext cx="2148840" cy="3246120"/>
          </a:xfrm>
          <a:prstGeom prst="roundRect">
            <a:avLst>
              <a:gd name="adj" fmla="val 2553"/>
            </a:avLst>
          </a:prstGeom>
          <a:solidFill>
            <a:srgbClr val="1A2238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693408" y="1499616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693408" y="1792224"/>
            <a:ext cx="1783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is the maximum-regret strategy on the board.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minimax-regret strategy is the memo's own Alternative #1 — positive in all four worlds, parked in an appendix.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response ≠ plan in 3 of 4 worlds. The gap is the fragility, now in dollars.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2920" y="406908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by construction: candidates span build-it-all, shrink-it, change-product, sell-shovels, walk-away — not four variations of the memo. Caveat carried openly: S1's row inherits memo calibration; S2–S5 ramps are declared judgments. The comparative shape is the defensible claim, not any single cell.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1560" y="29260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pathway — the matrix becomes a policy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51560" y="822960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memo's Phase-1 gates, reinterpreted as world-discrimination instruments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23774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463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$2.5M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204825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Phase-1 option premium (explore: buy information)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880360"/>
            <a:ext cx="23774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0175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$7.15B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40080" y="360273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 regret it insures (exploit: commit on evidence)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54680" y="1325880"/>
          <a:ext cx="54864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68680"/>
                <a:gridCol w="2057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Gates observed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Committed response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 &lt;$2,000/kg ✓ · premium LOIs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 plan, staged; accelerate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✓ · launch 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GaaS-first; regional-1000 as option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 ✓ · premium 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Components + D2D-only; never join the price war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GaaS to the incumbents, or graceful exit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Early: Starlink licensed via concession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W3 forming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Freeze constellation capex immediately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Early: wholesale rates −30%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W4 forming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Invoke Alt #2 / #1; no Phase-2 capital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02920" y="45720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four no-regret moves that pay in every world: radiation test program, anchor hires, ITAR audit, organizational separation.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1560" y="29260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loop — what happens after Phase 1 reports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51560" y="822960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re-instantiates at every gate; this is the product, not an afterthought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2606040" cy="2240280"/>
          </a:xfrm>
          <a:prstGeom prst="roundRect">
            <a:avLst>
              <a:gd name="adj" fmla="val 2449"/>
            </a:avLst>
          </a:prstGeom>
          <a:solidFill>
            <a:srgbClr val="DCEFE3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1790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X-space shrinks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901952"/>
            <a:ext cx="22402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results move parameters from deep-uncertain to estimated — launch quotes, LOI premiums, radiation data. Level 3 demotes to level 2, where the existing engine takes over. You cannot search the web for your own pilot results.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06040" cy="2240280"/>
          </a:xfrm>
          <a:prstGeom prst="roundRect">
            <a:avLst>
              <a:gd name="adj" fmla="val 2449"/>
            </a:avLst>
          </a:prstGeom>
          <a:solidFill>
            <a:srgbClr val="F2E8D5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151790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L-space shrinks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1901952"/>
            <a:ext cx="22402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Irreversible commitments turn levers into constants. Regret in V2 is computed over the reachable strategies only — path-dependent regret on the surviving set.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080760" y="1371600"/>
            <a:ext cx="2606040" cy="2240280"/>
          </a:xfrm>
          <a:prstGeom prst="roundRect">
            <a:avLst>
              <a:gd name="adj" fmla="val 2449"/>
            </a:avLst>
          </a:prstGeom>
          <a:solidFill>
            <a:srgbClr val="E3E9F6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51790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Worlds redraw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1901952"/>
            <a:ext cx="22402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selection recurs: yesterday's axes partially resolve; new deep uncertainty is born (e.g., competitor response to entry). The funnel narrows — it never closes.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502920" y="384048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1A2238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3986784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Explore, then exploit — legitimately at last:  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buys information, each gate commits on it, the cycle re-runs on the residual. The deliverable stops being a memo and becomes a subscription to the loop: signpost monitoring between gates, re-instantiation at each one.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judgment lives — said out loud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anti-confabulation architecture: every claim is cited, derived, computed, or declared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060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17904"/>
            <a:ext cx="329184" cy="329184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99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24712" y="1517904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Axis selection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framing bottleneck. LLMs regress to business-as-usual futures; choosing the two load-bearing uncertainties is where expertise enters. Rejected axes shown deliberately.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060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517904"/>
            <a:ext cx="329184" cy="329184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499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13632" y="1517904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Alternative-strategy ramps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74720" y="214884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inherits memo calibration; S2–S5 revenue profiles are declared judgments. Row confidence is uneven — and labeled. Comparative shape &gt; any cell.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080760" y="1371600"/>
            <a:ext cx="26060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517904"/>
            <a:ext cx="329184" cy="329184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499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02552" y="1517904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Verdict boundaries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63640" y="214884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verdicts cut from continuous metrics: W1 at 4.8% vs a 5% cutoff. The ex-ante rule lets us be caught at the boundary instead of redrawing the line.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502920" y="393192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seam, made literal: </a:t>
            </a:r>
            <a:pPr indent="0" marL="0">
              <a:buNone/>
            </a:pPr>
            <a:r>
              <a:rPr lang="en-US" sz="120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frames worlds and proposes parameter shifts; a ~200-line auditable model computes every verdict. A number you can trace beats a paragraph you can't — and deliberately deterministic v1 leaves the stochastic interior open. That layer is yours.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this exercise surfaced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pass of the method, one memo — every finding traceable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2606040" cy="36118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67512" y="1371600"/>
            <a:ext cx="2331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96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6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doubles as memo QA (found F4 incoherence)</a:t>
            </a:r>
            <a:endParaRPr lang="en-US" sz="96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doubles as claims audit (breakeven orphan)</a:t>
            </a:r>
            <a:endParaRPr lang="en-US" sz="96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unit tests live inside memos ($20M→$1.4B, exact)</a:t>
            </a:r>
            <a:endParaRPr lang="en-US" sz="96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Deltas from a calibrated baseline beat invented levels</a:t>
            </a:r>
            <a:endParaRPr lang="en-US" sz="96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/ L split = XLRM operationalized; confabulation becomes a type error</a:t>
            </a:r>
            <a:endParaRPr lang="en-US" sz="96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rules fixed ex ante — boundaries reported, not redrawn</a:t>
            </a:r>
            <a:endParaRPr lang="en-US" sz="96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impacts computed, not scored; likelihoods conditional on world</a:t>
            </a:r>
            <a:endParaRPr lang="en-US" sz="960" dirty="0"/>
          </a:p>
        </p:txBody>
      </p:sp>
      <p:sp>
        <p:nvSpPr>
          <p:cNvPr id="6" name="Shape 4"/>
          <p:cNvSpPr/>
          <p:nvPr/>
        </p:nvSpPr>
        <p:spPr>
          <a:xfrm>
            <a:off x="3291840" y="1234440"/>
            <a:ext cx="2606040" cy="36118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56432" y="1371600"/>
            <a:ext cx="2331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96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CASE</a:t>
            </a:r>
            <a:endParaRPr lang="en-US" sz="96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thrives in 1 of 4 worlds — a W2 wager</a:t>
            </a:r>
            <a:endParaRPr lang="en-US" sz="96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= max regret ($7.15B); memo's own Alt #1 = minimax ($0.67B)</a:t>
            </a:r>
            <a:endParaRPr lang="en-US" sz="96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Replenishment wall: Y9–10, ~$6.2B, unpriced by the memo</a:t>
            </a:r>
            <a:endParaRPr lang="en-US" sz="96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 dies fast (capital crater), W4 dies slow (margin bleed) — opposite triggers</a:t>
            </a:r>
            <a:endParaRPr lang="en-US" sz="96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Co-invest refusal is a commercial event, not a financing one (capex + ~1yr ramp)</a:t>
            </a:r>
            <a:endParaRPr lang="en-US" sz="96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$2.5M Phase 1 priced as the option against the crater</a:t>
            </a:r>
            <a:endParaRPr lang="en-US" sz="960" dirty="0"/>
          </a:p>
        </p:txBody>
      </p:sp>
      <p:sp>
        <p:nvSpPr>
          <p:cNvPr id="8" name="Shape 6"/>
          <p:cNvSpPr/>
          <p:nvPr/>
        </p:nvSpPr>
        <p:spPr>
          <a:xfrm>
            <a:off x="6080760" y="1234440"/>
            <a:ext cx="2606040" cy="36118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45352" y="1371600"/>
            <a:ext cx="2331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96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/ UPSTREAM</a:t>
            </a:r>
            <a:endParaRPr lang="en-US" sz="96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Memos should emit one coherent model — claims from a single source</a:t>
            </a:r>
            <a:endParaRPr lang="en-US" sz="96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volume ramps, not just price points (F7)</a:t>
            </a:r>
            <a:endParaRPr lang="en-US" sz="96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risks as parameter mappings</a:t>
            </a:r>
            <a:endParaRPr lang="en-US" sz="96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“Look around corners” becomes instrumentation: world-specific signposts + triggers</a:t>
            </a:r>
            <a:endParaRPr lang="en-US" sz="96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deliverable is the loop — monitoring + re-instantiation at each gate</a:t>
            </a:r>
            <a:endParaRPr lang="en-US" sz="96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memos → better models → better worlds → better decisions</a:t>
            </a:r>
            <a:endParaRPr lang="en-US" sz="96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open questions — where you come in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first attempt; these are genuinely unresolved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99032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80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353312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selection — can the framing step be made systematic, or is it irreducibly expert judgment? What would a defensible procedure look like?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975104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2075688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2029968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vs confabulation — the S2–S5 ramps are declared judgments. What evidentiary standard makes a robustness claim defensible to a board?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651760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2752344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734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2706624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seam — where exactly should quantitative stochastic reasoning end and cross-world DMDU logic govern? Is the current cut right?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328416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42900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410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338328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RL framing carry formal weight? The gap is regret, the triggers are a policy, the stages are explore/exploit. Real bridge, or metaphor?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4005072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4105656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087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4059936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stochastic interior — should within-world parameters become distributions? What changes, what breaks, and what does it buy?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thinking is built.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machine comes after it's earned.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2057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ARTIFACT ON THE TABLE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samsung-model-schema-v0.1.md — 24 cited parameters, 12 mapped risks, 7 flags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model.py — ~200-line auditable cash model  ·  calibration-report-v0.1.md — anchors, tests, findings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worlds-spec-v0.1.md — four X-vectors, signposts, conditional risk re-ratings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strategies.py — 5×4 grid, regret  ·  pathway-v0.1.md — triggers, staged policy, the loop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4069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pressure-test the seams → design the stochastic interior together → then, and only then, automate the pipeline.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0" y="461772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Shape 5"/>
          <p:cNvSpPr/>
          <p:nvPr/>
        </p:nvSpPr>
        <p:spPr>
          <a:xfrm>
            <a:off x="6446520" y="461772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Shape 6"/>
          <p:cNvSpPr/>
          <p:nvPr/>
        </p:nvSpPr>
        <p:spPr>
          <a:xfrm>
            <a:off x="7040880" y="461772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Shape 7"/>
          <p:cNvSpPr/>
          <p:nvPr/>
        </p:nvSpPr>
        <p:spPr>
          <a:xfrm>
            <a:off x="7635240" y="461772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0" y="4617720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Uncertainty to Action — Level 3-4 Working Session (v2)</dc:title>
  <dc:subject>PptxGenJS Presentation</dc:subject>
  <dc:creator>Innovera</dc:creator>
  <cp:lastModifiedBy>Innovera</cp:lastModifiedBy>
  <cp:revision>1</cp:revision>
  <dcterms:created xsi:type="dcterms:W3CDTF">2026-06-10T05:00:11Z</dcterms:created>
  <dcterms:modified xsi:type="dcterms:W3CDTF">2026-06-10T05:00:11Z</dcterms:modified>
</cp:coreProperties>
</file>